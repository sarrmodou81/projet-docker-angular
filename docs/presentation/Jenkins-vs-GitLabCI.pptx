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DEVOPS  ·  INTEGRATION &amp; DEPLOIEMENT CONTINUS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6949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800" b="1" dirty="0">
                <a:solidFill>
                  <a:srgbClr val="D249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Jenkins</a:t>
            </a:r>
            <a:endParaRPr lang="en-US" sz="5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000" dirty="0">
                <a:solidFill>
                  <a:srgbClr val="9CA6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5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800" b="1" dirty="0">
                <a:solidFill>
                  <a:srgbClr val="FC6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GitLab CI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40080" y="4617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approches du CI/CD face a face : hebergement, cout, ecosysteme — et une demonstration en direct sur un projet Angular + Docker.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5806440"/>
            <a:ext cx="4937760" cy="0"/>
          </a:xfrm>
          <a:prstGeom prst="line">
            <a:avLst/>
          </a:prstGeom>
          <a:noFill/>
          <a:ln w="12700">
            <a:solidFill>
              <a:srgbClr val="3238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Modou Sarr  ·  Presentation d'examen  ·  13 aout 2026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732520" y="1234440"/>
            <a:ext cx="1417320" cy="1417320"/>
          </a:xfrm>
          <a:prstGeom prst="ellipse">
            <a:avLst/>
          </a:prstGeom>
          <a:solidFill>
            <a:srgbClr val="D24939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16" y="1545336"/>
            <a:ext cx="795528" cy="795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0" y="27249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281160" y="3246120"/>
            <a:ext cx="384048" cy="384048"/>
          </a:xfrm>
          <a:prstGeom prst="ellipse">
            <a:avLst/>
          </a:prstGeom>
          <a:solidFill>
            <a:srgbClr val="262B36"/>
          </a:solidFill>
          <a:ln w="12700">
            <a:solidFill>
              <a:srgbClr val="3A41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811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732520" y="3794760"/>
            <a:ext cx="1417320" cy="1417320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416" y="4105656"/>
            <a:ext cx="795528" cy="7955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03920" y="52852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allons voir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D2493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8562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CI/CD en une slide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66928" cy="566928"/>
          </a:xfrm>
          <a:prstGeom prst="ellipse">
            <a:avLst/>
          </a:prstGeom>
          <a:solidFill>
            <a:srgbClr val="FC6D2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90779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: philosophie &amp; fonctionnement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66928" cy="566928"/>
          </a:xfrm>
          <a:prstGeom prst="ellipse">
            <a:avLst/>
          </a:prstGeom>
          <a:solidFill>
            <a:srgbClr val="D2493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395935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 : philosophie &amp; fonctionnement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566928" cy="566928"/>
          </a:xfrm>
          <a:prstGeom prst="ellipse">
            <a:avLst/>
          </a:prstGeom>
          <a:solidFill>
            <a:srgbClr val="FC6D2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29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501091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comparees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355080" y="1874520"/>
            <a:ext cx="566928" cy="566928"/>
          </a:xfrm>
          <a:prstGeom prst="ellipse">
            <a:avLst/>
          </a:prstGeom>
          <a:solidFill>
            <a:srgbClr val="D24939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18562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comparatif complet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355080" y="2926080"/>
            <a:ext cx="566928" cy="566928"/>
          </a:xfrm>
          <a:prstGeom prst="ellipse">
            <a:avLst/>
          </a:prstGeom>
          <a:solidFill>
            <a:srgbClr val="FC6D26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86600" y="290779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en entreprise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355080" y="3977640"/>
            <a:ext cx="566928" cy="566928"/>
          </a:xfrm>
          <a:prstGeom prst="ellipse">
            <a:avLst/>
          </a:prstGeom>
          <a:solidFill>
            <a:srgbClr val="D24939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86600" y="395935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pratique en direct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355080" y="5029200"/>
            <a:ext cx="566928" cy="566928"/>
          </a:xfrm>
          <a:prstGeom prst="ellipse">
            <a:avLst/>
          </a:prstGeom>
          <a:solidFill>
            <a:srgbClr val="FC6D26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5029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86600" y="501091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Synthese &amp; conclusion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CI/CD, rapidement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CI/CD automatise le chemin entre une ligne de code ecrite et une application livree : chaque push declenche une chaine d'etapes reproductibles, sans intervention manuelle.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23060" y="3063240"/>
            <a:ext cx="731520" cy="731520"/>
          </a:xfrm>
          <a:prstGeom prst="ellipse">
            <a:avLst/>
          </a:prstGeom>
          <a:solidFill>
            <a:srgbClr val="50607A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652" y="32278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43434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sur le depot Git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37490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74720" y="274320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74820" y="3063240"/>
            <a:ext cx="731520" cy="731520"/>
          </a:xfrm>
          <a:prstGeom prst="ellipse">
            <a:avLst/>
          </a:prstGeom>
          <a:solidFill>
            <a:srgbClr val="50607A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412" y="322783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74720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611880" y="43434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de l'appli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8" y="37490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26480" y="274320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926580" y="3063240"/>
            <a:ext cx="731520" cy="731520"/>
          </a:xfrm>
          <a:prstGeom prst="ellipse">
            <a:avLst/>
          </a:prstGeom>
          <a:solidFill>
            <a:srgbClr val="50607A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172" y="3227832"/>
            <a:ext cx="402336" cy="4023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26480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263640" y="43434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/ qualite</a:t>
            </a:r>
            <a:endParaRPr lang="en-US" sz="10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3749040"/>
            <a:ext cx="274320" cy="27432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778240" y="274320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9578340" y="3063240"/>
            <a:ext cx="731520" cy="731520"/>
          </a:xfrm>
          <a:prstGeom prst="ellipse">
            <a:avLst/>
          </a:prstGeom>
          <a:solidFill>
            <a:srgbClr val="50607A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2932" y="3227832"/>
            <a:ext cx="402336" cy="40233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778240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600" dirty="0"/>
          </a:p>
        </p:txBody>
      </p:sp>
      <p:sp>
        <p:nvSpPr>
          <p:cNvPr id="27" name="Text 18"/>
          <p:cNvSpPr/>
          <p:nvPr/>
        </p:nvSpPr>
        <p:spPr>
          <a:xfrm>
            <a:off x="8915400" y="43434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livree en production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D24939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303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Jenkins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600200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standard historique, open-source et self-hosted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" y="2221992"/>
            <a:ext cx="603504" cy="603504"/>
          </a:xfrm>
          <a:prstGeom prst="ellipse">
            <a:avLst/>
          </a:prstGeom>
          <a:solidFill>
            <a:srgbClr val="D24939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36829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292608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Self-hosted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3291840"/>
            <a:ext cx="2916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et maintenance sur vos propres serveurs (ou conteneur). Vous gerez la disponibilite, les mises a jour et la securite.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43400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99432" y="2221992"/>
            <a:ext cx="603504" cy="603504"/>
          </a:xfrm>
          <a:prstGeom prst="ellipse">
            <a:avLst/>
          </a:prstGeom>
          <a:solidFill>
            <a:srgbClr val="D24939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236829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99432" y="292608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Plugins (1800+)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599432" y="3291840"/>
            <a:ext cx="2916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ecosysteme immense : Docker, Git, SonarQube, Slack, Kubernetes... quasiment tout est integrable via un plugin.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046720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02752" y="2221992"/>
            <a:ext cx="603504" cy="603504"/>
          </a:xfrm>
          <a:prstGeom prst="ellipse">
            <a:avLst/>
          </a:prstGeom>
          <a:solidFill>
            <a:srgbClr val="D24939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236829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02752" y="292608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Jenkinsfile (Groovy)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302752" y="3291840"/>
            <a:ext cx="2916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as code ecrit en Groovy : tres flexible et scriptable, mais une syntaxe plus verbeuse a apprendre.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4008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 en 2011 (fork du projet Hudson) — aujourd'hui porte par la Continuous Delivery Foundation.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303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GitLab CI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60020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Integre nativement au depot, pilote par un simple fichier YAML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" y="2221992"/>
            <a:ext cx="603504" cy="603504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36829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292608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Integre au depot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3291840"/>
            <a:ext cx="2916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outil externe a installer : le pipeline vit dans le meme projet Git, active des la creation du fichier de config.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43400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99432" y="2221992"/>
            <a:ext cx="603504" cy="603504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236829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99432" y="292608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.gitlab-ci.yml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599432" y="3291840"/>
            <a:ext cx="2916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YAML declarative, tres proche de GitHub Actions : stages, jobs, variables, artifacts, rules.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046720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02752" y="2221992"/>
            <a:ext cx="603504" cy="603504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236829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02752" y="292608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Runners geres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302752" y="3291840"/>
            <a:ext cx="2916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Runners partages GitLab.com prets a l'emploi, ou runners auto-heberges pour garder la main sur l'infra.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4008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en 2015 comme fonctionnalite native de GitLab — pas d'installation separee requise.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chaque outil execute un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49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JENKINS — architecture maitre / agent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D249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Developpeur pousse du code (git push)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54680" y="2862072"/>
            <a:ext cx="0" cy="256032"/>
          </a:xfrm>
          <a:prstGeom prst="line">
            <a:avLst/>
          </a:prstGeom>
          <a:noFill/>
          <a:ln w="19050">
            <a:solidFill>
              <a:srgbClr val="D2493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0080" y="3118104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D249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1810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Jenkins (master) detecte le changement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54680" y="3831336"/>
            <a:ext cx="0" cy="256032"/>
          </a:xfrm>
          <a:prstGeom prst="line">
            <a:avLst/>
          </a:prstGeom>
          <a:noFill/>
          <a:ln w="19050">
            <a:solidFill>
              <a:srgbClr val="D2493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4087368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D249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8736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job est distribue a un agent (node) disponible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54680" y="4800600"/>
            <a:ext cx="0" cy="256032"/>
          </a:xfrm>
          <a:prstGeom prst="line">
            <a:avLst/>
          </a:prstGeom>
          <a:noFill/>
          <a:ln w="19050">
            <a:solidFill>
              <a:srgbClr val="D2493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5056632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D249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05663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execute les etapes du Jenkinsfile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6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GITLAB CI — architecture repo / runner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37960" y="214884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FC6D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214884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Developpeur pousse du code (git push)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52560" y="2862072"/>
            <a:ext cx="0" cy="256032"/>
          </a:xfrm>
          <a:prstGeom prst="line">
            <a:avLst/>
          </a:prstGeom>
          <a:noFill/>
          <a:ln w="19050">
            <a:solidFill>
              <a:srgbClr val="FC6D2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37960" y="3118104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FC6D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11810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detecte .gitlab-ci.yml dans le depot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52560" y="3831336"/>
            <a:ext cx="0" cy="256032"/>
          </a:xfrm>
          <a:prstGeom prst="line">
            <a:avLst/>
          </a:prstGeom>
          <a:noFill/>
          <a:ln w="19050">
            <a:solidFill>
              <a:srgbClr val="FC6D2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537960" y="4087368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FC6D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408736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est cree et mis en file d'attente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052560" y="4800600"/>
            <a:ext cx="0" cy="256032"/>
          </a:xfrm>
          <a:prstGeom prst="line">
            <a:avLst/>
          </a:prstGeom>
          <a:noFill/>
          <a:ln w="19050">
            <a:solidFill>
              <a:srgbClr val="FC6D2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37960" y="5056632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FC6D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505663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runner (partage ou prive) execute les jobs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COMPARATIF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Jenkins vs GitLab CI, critere par critere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4663440"/>
        </p:xfrm>
        <a:graphic>
          <a:graphicData uri="http://schemas.openxmlformats.org/drawingml/2006/table">
            <a:tbl>
              <a:tblPr/>
              <a:tblGrid>
                <a:gridCol w="2743200"/>
                <a:gridCol w="4087368"/>
                <a:gridCol w="4078224"/>
              </a:tblGrid>
              <a:tr h="7223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6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Jenkins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49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GitLab 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6D26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Hebergement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: vous installez et exploitez le serveur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Integre : SaaS sur GitLab.com ou self-managed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Logiciel gratuit, mais infra + temps admin a votre charge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Palier gratuit genereux, puis minutes CI / plans payants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Courbe d'apprentissage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raide : Groovy, configuration des plugins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douce : YAML simple, tout deja connecte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Enorme et mature : 1800+ plugins pour tout integrer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Riche et integre : Git, registry, securite, CI reunis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Manuelle : ajouter et gerer des agents soi-meme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: runners auto-scalables, notamment sur le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la charge de l'equipe DevOps (mises a jour, securite)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Geree par GitLab en SaaS, ou par vous en self-managed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ENTREPRISE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 choisir l'un plutot que l'autre 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D2493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21408"/>
            <a:ext cx="5257800" cy="393192"/>
          </a:xfrm>
          <a:prstGeom prst="rect">
            <a:avLst/>
          </a:prstGeom>
          <a:solidFill>
            <a:srgbClr val="D24939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373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 Jenkins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2788920"/>
            <a:ext cx="457200" cy="457200"/>
          </a:xfrm>
          <a:prstGeom prst="ellipse">
            <a:avLst/>
          </a:prstGeom>
          <a:solidFill>
            <a:srgbClr val="D24939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89864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7432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avec infrastructure on-premise ou legacy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3630168"/>
            <a:ext cx="457200" cy="457200"/>
          </a:xfrm>
          <a:prstGeom prst="ellipse">
            <a:avLst/>
          </a:prstGeom>
          <a:solidFill>
            <a:srgbClr val="D24939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73989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58444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tres specifiques : plugins ou integrations sur-mesure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60120" y="4471416"/>
            <a:ext cx="457200" cy="457200"/>
          </a:xfrm>
          <a:prstGeom prst="ellipse">
            <a:avLst/>
          </a:prstGeom>
          <a:solidFill>
            <a:srgbClr val="D24939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58114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425696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outils de gestion de code source (pas seulement Git)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960120" y="5312664"/>
            <a:ext cx="457200" cy="457200"/>
          </a:xfrm>
          <a:prstGeom prst="ellipse">
            <a:avLst/>
          </a:prstGeom>
          <a:solidFill>
            <a:srgbClr val="D24939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42239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5266944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equipe DevOps dediee peut exploiter la plateforme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263640" y="173736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FC6D26"/>
          </a:solidFill>
          <a:ln/>
        </p:spPr>
      </p:sp>
      <p:sp>
        <p:nvSpPr>
          <p:cNvPr id="22" name="Shape 16"/>
          <p:cNvSpPr/>
          <p:nvPr/>
        </p:nvSpPr>
        <p:spPr>
          <a:xfrm>
            <a:off x="6263640" y="2121408"/>
            <a:ext cx="5257800" cy="393192"/>
          </a:xfrm>
          <a:prstGeom prst="rect">
            <a:avLst/>
          </a:prstGeom>
          <a:solidFill>
            <a:srgbClr val="FC6D26"/>
          </a:solidFill>
          <a:ln/>
        </p:spPr>
      </p:sp>
      <p:sp>
        <p:nvSpPr>
          <p:cNvPr id="23" name="Text 17"/>
          <p:cNvSpPr/>
          <p:nvPr/>
        </p:nvSpPr>
        <p:spPr>
          <a:xfrm>
            <a:off x="6583680" y="17373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 GitLab CI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6583680" y="2788920"/>
            <a:ext cx="457200" cy="457200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289864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23760" y="27432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est deja heberge sur GitLab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6583680" y="3630168"/>
            <a:ext cx="457200" cy="457200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3739896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223760" y="358444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equipe ou startup qui veut avancer vite, sans serveur a gerer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6583680" y="4471416"/>
            <a:ext cx="457200" cy="457200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8" y="4581144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223760" y="4425696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Envie d'une chaine DevSecOps tout-en-un (code + CI + registry + securite)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6583680" y="5312664"/>
            <a:ext cx="457200" cy="457200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5422392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223760" y="5266944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ressources dediees a l'administration d'un serveur CI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 en direct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projet, trois pipelines : GitHub Actions (deja en place), Jenkins et GitLab CI ajoutes pour la comparaison — sur une application Angular conteneurisee avec Docker.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777240" cy="777240"/>
          </a:xfrm>
          <a:prstGeom prst="ellipse">
            <a:avLst/>
          </a:prstGeom>
          <a:solidFill>
            <a:srgbClr val="262B3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21208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37360" y="5029200"/>
            <a:ext cx="777240" cy="777240"/>
          </a:xfrm>
          <a:prstGeom prst="ellipse">
            <a:avLst/>
          </a:prstGeom>
          <a:solidFill>
            <a:srgbClr val="262B3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5212080"/>
            <a:ext cx="411480" cy="411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34640" y="5029200"/>
            <a:ext cx="777240" cy="777240"/>
          </a:xfrm>
          <a:prstGeom prst="ellipse">
            <a:avLst/>
          </a:prstGeom>
          <a:solidFill>
            <a:srgbClr val="262B3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5212080"/>
            <a:ext cx="411480" cy="4114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931920" y="5029200"/>
            <a:ext cx="777240" cy="777240"/>
          </a:xfrm>
          <a:prstGeom prst="ellipse">
            <a:avLst/>
          </a:prstGeom>
          <a:solidFill>
            <a:srgbClr val="262B3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5212080"/>
            <a:ext cx="411480" cy="41148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029200" y="5029200"/>
            <a:ext cx="777240" cy="777240"/>
          </a:xfrm>
          <a:prstGeom prst="ellipse">
            <a:avLst/>
          </a:prstGeom>
          <a:solidFill>
            <a:srgbClr val="262B3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5212080"/>
            <a:ext cx="411480" cy="41148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6126480" y="5029200"/>
            <a:ext cx="777240" cy="777240"/>
          </a:xfrm>
          <a:prstGeom prst="ellipse">
            <a:avLst/>
          </a:prstGeom>
          <a:solidFill>
            <a:srgbClr val="262B3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521208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SUPPORT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projet-docker-angular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Angular + Keycloak + PostgreSQL, entierement conteneurisee avec Docker.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828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D24939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7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61872" y="2267712"/>
            <a:ext cx="585216" cy="585216"/>
          </a:xfrm>
          <a:prstGeom prst="ellipse">
            <a:avLst/>
          </a:prstGeom>
          <a:solidFill>
            <a:srgbClr val="D24939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3957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(nginx)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24912" y="2103120"/>
            <a:ext cx="1828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50607A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7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46704" y="2267712"/>
            <a:ext cx="585216" cy="585216"/>
          </a:xfrm>
          <a:prstGeom prst="ellipse">
            <a:avLst/>
          </a:prstGeom>
          <a:solidFill>
            <a:srgbClr val="50607A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3957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70632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(auth)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809744" y="2103120"/>
            <a:ext cx="1828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50607A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7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31536" y="2267712"/>
            <a:ext cx="585216" cy="585216"/>
          </a:xfrm>
          <a:prstGeom prst="ellipse">
            <a:avLst/>
          </a:prstGeom>
          <a:solidFill>
            <a:srgbClr val="50607A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23957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55464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894576" y="2103120"/>
            <a:ext cx="1828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FC6D26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7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516368" y="2267712"/>
            <a:ext cx="585216" cy="585216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239572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40296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Compose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4008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(les 3 outils executent la meme suite) :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0080" y="4297680"/>
            <a:ext cx="1828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50607A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7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261872" y="4462272"/>
            <a:ext cx="585216" cy="585216"/>
          </a:xfrm>
          <a:prstGeom prst="ellipse">
            <a:avLst/>
          </a:prstGeom>
          <a:solidFill>
            <a:srgbClr val="50607A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888" y="4590288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5800" y="5120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2724912" y="4297680"/>
            <a:ext cx="1828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50607A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7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346704" y="4462272"/>
            <a:ext cx="585216" cy="585216"/>
          </a:xfrm>
          <a:prstGeom prst="ellipse">
            <a:avLst/>
          </a:prstGeom>
          <a:solidFill>
            <a:srgbClr val="50607A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4590288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770632" y="5120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4809744" y="4297680"/>
            <a:ext cx="1828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FC6D26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7">
                <a:alpha val="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5431536" y="4462272"/>
            <a:ext cx="585216" cy="585216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9552" y="4590288"/>
            <a:ext cx="329184" cy="32918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855464" y="5120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Docker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6894576" y="4297680"/>
            <a:ext cx="1828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D24939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7">
                <a:alpha val="8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7516368" y="4462272"/>
            <a:ext cx="585216" cy="585216"/>
          </a:xfrm>
          <a:prstGeom prst="ellipse">
            <a:avLst/>
          </a:prstGeom>
          <a:solidFill>
            <a:srgbClr val="D24939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4384" y="4590288"/>
            <a:ext cx="329184" cy="329184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940296" y="5120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 Slack</a:t>
            </a:r>
            <a:endParaRPr lang="en-US" sz="1150" dirty="0"/>
          </a:p>
        </p:txBody>
      </p:sp>
      <p:sp>
        <p:nvSpPr>
          <p:cNvPr id="38" name="Text 2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MEME PIPELINE, TROIS OUTILS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-&gt; Test -&gt; Build -&gt; Qualite -&gt; Docker -&gt; Notif.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D24939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783080"/>
            <a:ext cx="1353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dependances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7692" y="2162556"/>
            <a:ext cx="201168" cy="201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12848" y="178308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C6D26"/>
          </a:solidFill>
          <a:ln/>
        </p:spPr>
      </p:sp>
      <p:sp>
        <p:nvSpPr>
          <p:cNvPr id="8" name="Text 5"/>
          <p:cNvSpPr/>
          <p:nvPr/>
        </p:nvSpPr>
        <p:spPr>
          <a:xfrm>
            <a:off x="2267712" y="1783080"/>
            <a:ext cx="1353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unitaires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162556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785616" y="178308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D24939"/>
          </a:solidFill>
          <a:ln/>
        </p:spPr>
      </p:sp>
      <p:sp>
        <p:nvSpPr>
          <p:cNvPr id="11" name="Text 7"/>
          <p:cNvSpPr/>
          <p:nvPr/>
        </p:nvSpPr>
        <p:spPr>
          <a:xfrm>
            <a:off x="3840480" y="1783080"/>
            <a:ext cx="1353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228" y="2162556"/>
            <a:ext cx="201168" cy="2011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358384" y="178308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C6D26"/>
          </a:solidFill>
          <a:ln/>
        </p:spPr>
      </p:sp>
      <p:sp>
        <p:nvSpPr>
          <p:cNvPr id="14" name="Text 9"/>
          <p:cNvSpPr/>
          <p:nvPr/>
        </p:nvSpPr>
        <p:spPr>
          <a:xfrm>
            <a:off x="5413248" y="1783080"/>
            <a:ext cx="1353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996" y="2162556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931152" y="178308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D24939"/>
          </a:solidFill>
          <a:ln/>
        </p:spPr>
      </p:sp>
      <p:sp>
        <p:nvSpPr>
          <p:cNvPr id="17" name="Text 11"/>
          <p:cNvSpPr/>
          <p:nvPr/>
        </p:nvSpPr>
        <p:spPr>
          <a:xfrm>
            <a:off x="6986016" y="1783080"/>
            <a:ext cx="1353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64" y="2162556"/>
            <a:ext cx="201168" cy="201168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8503920" y="178308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C6D26"/>
          </a:solidFill>
          <a:ln/>
        </p:spPr>
      </p:sp>
      <p:sp>
        <p:nvSpPr>
          <p:cNvPr id="20" name="Text 13"/>
          <p:cNvSpPr/>
          <p:nvPr/>
        </p:nvSpPr>
        <p:spPr>
          <a:xfrm>
            <a:off x="8558784" y="1783080"/>
            <a:ext cx="1353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1532" y="2162556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10076688" y="178308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D24939"/>
          </a:solidFill>
          <a:ln/>
        </p:spPr>
      </p:sp>
      <p:sp>
        <p:nvSpPr>
          <p:cNvPr id="23" name="Text 15"/>
          <p:cNvSpPr/>
          <p:nvPr/>
        </p:nvSpPr>
        <p:spPr>
          <a:xfrm>
            <a:off x="10131552" y="1783080"/>
            <a:ext cx="1353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640080" y="3200400"/>
            <a:ext cx="1090879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640080" y="3200400"/>
            <a:ext cx="91440" cy="777240"/>
          </a:xfrm>
          <a:prstGeom prst="rect">
            <a:avLst/>
          </a:prstGeom>
          <a:solidFill>
            <a:srgbClr val="1B1F27"/>
          </a:solidFill>
          <a:ln/>
        </p:spPr>
      </p:sp>
      <p:sp>
        <p:nvSpPr>
          <p:cNvPr id="26" name="Text 18"/>
          <p:cNvSpPr/>
          <p:nvPr/>
        </p:nvSpPr>
        <p:spPr>
          <a:xfrm>
            <a:off x="960120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3429000" y="3364992"/>
            <a:ext cx="457200" cy="457200"/>
          </a:xfrm>
          <a:prstGeom prst="ellipse">
            <a:avLst/>
          </a:prstGeom>
          <a:solidFill>
            <a:srgbClr val="1B1F27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456432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023360" y="3200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en place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7223760" y="32004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pipeline-docker.yml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640080" y="4133088"/>
            <a:ext cx="1090879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640080" y="4133088"/>
            <a:ext cx="91440" cy="777240"/>
          </a:xfrm>
          <a:prstGeom prst="rect">
            <a:avLst/>
          </a:prstGeom>
          <a:solidFill>
            <a:srgbClr val="D24939"/>
          </a:solidFill>
          <a:ln/>
        </p:spPr>
      </p:sp>
      <p:sp>
        <p:nvSpPr>
          <p:cNvPr id="33" name="Text 24"/>
          <p:cNvSpPr/>
          <p:nvPr/>
        </p:nvSpPr>
        <p:spPr>
          <a:xfrm>
            <a:off x="960120" y="413308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Jenkins</a:t>
            </a:r>
            <a:endParaRPr lang="en-US" sz="1500" dirty="0"/>
          </a:p>
        </p:txBody>
      </p:sp>
      <p:sp>
        <p:nvSpPr>
          <p:cNvPr id="34" name="Shape 25"/>
          <p:cNvSpPr/>
          <p:nvPr/>
        </p:nvSpPr>
        <p:spPr>
          <a:xfrm>
            <a:off x="3429000" y="4297680"/>
            <a:ext cx="457200" cy="457200"/>
          </a:xfrm>
          <a:prstGeom prst="ellipse">
            <a:avLst/>
          </a:prstGeom>
          <a:solidFill>
            <a:srgbClr val="D24939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0440" y="4389120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023360" y="41330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 pour la demo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7223760" y="413308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Jenkinsfile</a:t>
            </a:r>
            <a:endParaRPr lang="en-US" sz="1250" dirty="0"/>
          </a:p>
        </p:txBody>
      </p:sp>
      <p:sp>
        <p:nvSpPr>
          <p:cNvPr id="38" name="Shape 28"/>
          <p:cNvSpPr/>
          <p:nvPr/>
        </p:nvSpPr>
        <p:spPr>
          <a:xfrm>
            <a:off x="640080" y="5065776"/>
            <a:ext cx="1090879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640080" y="5065776"/>
            <a:ext cx="91440" cy="777240"/>
          </a:xfrm>
          <a:prstGeom prst="rect">
            <a:avLst/>
          </a:prstGeom>
          <a:solidFill>
            <a:srgbClr val="FC6D26"/>
          </a:solidFill>
          <a:ln/>
        </p:spPr>
      </p:sp>
      <p:sp>
        <p:nvSpPr>
          <p:cNvPr id="40" name="Text 30"/>
          <p:cNvSpPr/>
          <p:nvPr/>
        </p:nvSpPr>
        <p:spPr>
          <a:xfrm>
            <a:off x="960120" y="506577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GitLab CI</a:t>
            </a:r>
            <a:endParaRPr lang="en-US" sz="1500" dirty="0"/>
          </a:p>
        </p:txBody>
      </p:sp>
      <p:sp>
        <p:nvSpPr>
          <p:cNvPr id="41" name="Shape 31"/>
          <p:cNvSpPr/>
          <p:nvPr/>
        </p:nvSpPr>
        <p:spPr>
          <a:xfrm>
            <a:off x="3429000" y="5230368"/>
            <a:ext cx="457200" cy="457200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0440" y="5321808"/>
            <a:ext cx="274320" cy="27432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023360" y="506577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 pour la demo</a:t>
            </a:r>
            <a:endParaRPr lang="en-US" sz="1250" dirty="0"/>
          </a:p>
        </p:txBody>
      </p:sp>
      <p:sp>
        <p:nvSpPr>
          <p:cNvPr id="44" name="Text 33"/>
          <p:cNvSpPr/>
          <p:nvPr/>
        </p:nvSpPr>
        <p:spPr>
          <a:xfrm>
            <a:off x="7223760" y="506577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.gitlab-ci.yml</a:t>
            </a:r>
            <a:endParaRPr lang="en-US" sz="1250" dirty="0"/>
          </a:p>
        </p:txBody>
      </p:sp>
      <p:sp>
        <p:nvSpPr>
          <p:cNvPr id="45" name="Text 3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DEROULE DE LA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je vais montrer en direct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D2493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17320" y="1737360"/>
            <a:ext cx="10104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73736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Jenkins localement (Docker) et executer le Jenkinsfile sur ce projet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D2493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417320" y="2606040"/>
            <a:ext cx="10104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6060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etapes du pipeline en direct dans l'interface Jenkins (Stage View)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FC6D2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3474720"/>
            <a:ext cx="10104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347472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Pousser le meme code vers un depot GitLab.com et laisser .gitlab-ci.yml se declencher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566928" cy="566928"/>
          </a:xfrm>
          <a:prstGeom prst="ellipse">
            <a:avLst/>
          </a:prstGeom>
          <a:solidFill>
            <a:srgbClr val="FC6D2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4343400"/>
            <a:ext cx="10104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434340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le pipeline GitLab CI s'executer automatiquement, sans installation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566928" cy="566928"/>
          </a:xfrm>
          <a:prstGeom prst="ellipse">
            <a:avLst/>
          </a:prstGeom>
          <a:solidFill>
            <a:srgbClr val="50607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57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417320" y="5212080"/>
            <a:ext cx="10104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52120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trois interfaces (GitHub Actions, Jenkins, GitLab CI) cote a cote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vainqueur absolu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outil depend du contexte : infrastructure existante, taille de l'equipe et niveau de controle recherche.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262B36"/>
          </a:solidFill>
          <a:ln w="12700">
            <a:solidFill>
              <a:srgbClr val="353C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788920"/>
            <a:ext cx="822960" cy="822960"/>
          </a:xfrm>
          <a:prstGeom prst="ellipse">
            <a:avLst/>
          </a:prstGeom>
          <a:solidFill>
            <a:srgbClr val="D24939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9718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8404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Jenkins = controle total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05840" y="434340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quand l'entreprise a deja une infrastructure a gerer et des besoins d'integration tres specifiques via plugins.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242316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262B36"/>
          </a:solidFill>
          <a:ln w="12700">
            <a:solidFill>
              <a:srgbClr val="353C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9400" y="2788920"/>
            <a:ext cx="822960" cy="822960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9718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9400" y="38404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GitLab CI = simplicite integree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629400" y="434340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pour aller vite, sans serveur a maintenir, avec une chaine DevSecOps deja connectee au depot.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371600"/>
            <a:ext cx="1005840" cy="1005840"/>
          </a:xfrm>
          <a:prstGeom prst="ellipse">
            <a:avLst/>
          </a:prstGeom>
          <a:solidFill>
            <a:srgbClr val="D24939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0016" y="1591056"/>
            <a:ext cx="566928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23560" y="1371600"/>
            <a:ext cx="1005840" cy="1005840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76200" dist="25400" dir="5400000">
              <a:srgbClr val="1B1F27">
                <a:alpha val="25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1591056"/>
            <a:ext cx="566928" cy="5669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2743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 Des questions ?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640080" y="3520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vs GitLab CI — demonstration sur projet-docker-angular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Modou Sarr  ·  modousarrisikm@groupeisi.com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2026-08-13T00:15:33Z</dcterms:created>
  <dcterms:modified xsi:type="dcterms:W3CDTF">2026-08-13T00:15:33Z</dcterms:modified>
</cp:coreProperties>
</file>